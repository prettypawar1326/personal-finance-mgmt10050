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32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31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3333333333333333E-2"/>
          <c:y val="0.16985276081144063"/>
          <c:w val="0.93888888888888888"/>
          <c:h val="0.66961473736793398"/>
        </c:manualLayout>
      </c:layout>
      <c:ofPieChart>
        <c:ofPieType val="pie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Planned (₹)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01-5E0F-40E7-B0FA-E1F32F4774FC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03-5E0F-40E7-B0FA-E1F32F4774FC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05-5E0F-40E7-B0FA-E1F32F4774FC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07-5E0F-40E7-B0FA-E1F32F4774FC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09-5E0F-40E7-B0FA-E1F32F4774FC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0B-5E0F-40E7-B0FA-E1F32F4774FC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0D-5E0F-40E7-B0FA-E1F32F4774FC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lt1">
                          <a:lumMod val="8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39377872511569"/>
                      <c:h val="6.929076635274465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5E0F-40E7-B0FA-E1F32F4774FC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lt1">
                          <a:lumMod val="8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65246023952382"/>
                      <c:h val="6.929076635274465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5E0F-40E7-B0FA-E1F32F4774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Income</c:v>
                </c:pt>
                <c:pt idx="1">
                  <c:v>Rent</c:v>
                </c:pt>
                <c:pt idx="2">
                  <c:v>Food</c:v>
                </c:pt>
                <c:pt idx="3">
                  <c:v>Transport</c:v>
                </c:pt>
                <c:pt idx="4">
                  <c:v>Entertainment</c:v>
                </c:pt>
                <c:pt idx="5">
                  <c:v>Savings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20000</c:v>
                </c:pt>
                <c:pt idx="1">
                  <c:v>5000</c:v>
                </c:pt>
                <c:pt idx="2">
                  <c:v>4000</c:v>
                </c:pt>
                <c:pt idx="3">
                  <c:v>1500</c:v>
                </c:pt>
                <c:pt idx="4">
                  <c:v>1000</c:v>
                </c:pt>
                <c:pt idx="5">
                  <c:v>8500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E0F-40E7-B0FA-E1F32F4774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(₹)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10-5E0F-40E7-B0FA-E1F32F4774FC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12-5E0F-40E7-B0FA-E1F32F4774FC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14-5E0F-40E7-B0FA-E1F32F4774FC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16-5E0F-40E7-B0FA-E1F32F4774FC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18-5E0F-40E7-B0FA-E1F32F4774FC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1A-5E0F-40E7-B0FA-E1F32F4774FC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1C-5E0F-40E7-B0FA-E1F32F4774F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Income</c:v>
                </c:pt>
                <c:pt idx="1">
                  <c:v>Rent</c:v>
                </c:pt>
                <c:pt idx="2">
                  <c:v>Food</c:v>
                </c:pt>
                <c:pt idx="3">
                  <c:v>Transport</c:v>
                </c:pt>
                <c:pt idx="4">
                  <c:v>Entertainment</c:v>
                </c:pt>
                <c:pt idx="5">
                  <c:v>Savings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20000</c:v>
                </c:pt>
                <c:pt idx="1">
                  <c:v>5000</c:v>
                </c:pt>
                <c:pt idx="2">
                  <c:v>4200</c:v>
                </c:pt>
                <c:pt idx="3">
                  <c:v>1200</c:v>
                </c:pt>
                <c:pt idx="4">
                  <c:v>1500</c:v>
                </c:pt>
                <c:pt idx="5">
                  <c:v>8100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5E0F-40E7-B0FA-E1F32F4774F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Difference (₹)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1F-5E0F-40E7-B0FA-E1F32F4774FC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21-5E0F-40E7-B0FA-E1F32F4774FC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23-5E0F-40E7-B0FA-E1F32F4774FC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25-5E0F-40E7-B0FA-E1F32F4774FC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27-5E0F-40E7-B0FA-E1F32F4774FC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29-5E0F-40E7-B0FA-E1F32F4774FC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38100" h="50800"/>
              </a:sp3d>
            </c:spPr>
            <c:extLst>
              <c:ext xmlns:c16="http://schemas.microsoft.com/office/drawing/2014/chart" uri="{C3380CC4-5D6E-409C-BE32-E72D297353CC}">
                <c16:uniqueId val="{0000002B-5E0F-40E7-B0FA-E1F32F4774F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Income</c:v>
                </c:pt>
                <c:pt idx="1">
                  <c:v>Rent</c:v>
                </c:pt>
                <c:pt idx="2">
                  <c:v>Food</c:v>
                </c:pt>
                <c:pt idx="3">
                  <c:v>Transport</c:v>
                </c:pt>
                <c:pt idx="4">
                  <c:v>Entertainment</c:v>
                </c:pt>
                <c:pt idx="5">
                  <c:v>Savings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-200</c:v>
                </c:pt>
                <c:pt idx="3">
                  <c:v>300</c:v>
                </c:pt>
                <c:pt idx="4">
                  <c:v>-500</c:v>
                </c:pt>
                <c:pt idx="5">
                  <c:v>-400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C-5E0F-40E7-B0FA-E1F32F4774F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secondPieSize val="75"/>
        <c:serLines>
          <c:spPr>
            <a:ln w="9525" cap="flat" cmpd="sng" algn="ctr">
              <a:solidFill>
                <a:schemeClr val="lt1">
                  <a:lumMod val="95000"/>
                  <a:alpha val="54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9D81A7A-E3C7-4A3D-8467-8942058E2C95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EBC8B2C-8923-4F8F-B838-9AD81FA0E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03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81A7A-E3C7-4A3D-8467-8942058E2C95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2EBC8B2C-8923-4F8F-B838-9AD81FA0E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2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9D81A7A-E3C7-4A3D-8467-8942058E2C95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EBC8B2C-8923-4F8F-B838-9AD81FA0E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249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81A7A-E3C7-4A3D-8467-8942058E2C95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C8B2C-8923-4F8F-B838-9AD81FA0E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25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81A7A-E3C7-4A3D-8467-8942058E2C95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C8B2C-8923-4F8F-B838-9AD81FA0E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68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81A7A-E3C7-4A3D-8467-8942058E2C95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C8B2C-8923-4F8F-B838-9AD81FA0E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51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81A7A-E3C7-4A3D-8467-8942058E2C95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C8B2C-8923-4F8F-B838-9AD81FA0E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33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9D81A7A-E3C7-4A3D-8467-8942058E2C95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EBC8B2C-8923-4F8F-B838-9AD81FA0E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81A7A-E3C7-4A3D-8467-8942058E2C95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C8B2C-8923-4F8F-B838-9AD81FA0E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40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81A7A-E3C7-4A3D-8467-8942058E2C95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C8B2C-8923-4F8F-B838-9AD81FA0E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5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9D81A7A-E3C7-4A3D-8467-8942058E2C95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EBC8B2C-8923-4F8F-B838-9AD81FA0E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88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9D81A7A-E3C7-4A3D-8467-8942058E2C95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EBC8B2C-8923-4F8F-B838-9AD81FA0E3D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29766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3" r:id="rId1"/>
    <p:sldLayoutId id="2147484334" r:id="rId2"/>
    <p:sldLayoutId id="2147484335" r:id="rId3"/>
    <p:sldLayoutId id="2147484336" r:id="rId4"/>
    <p:sldLayoutId id="2147484337" r:id="rId5"/>
    <p:sldLayoutId id="2147484338" r:id="rId6"/>
    <p:sldLayoutId id="2147484339" r:id="rId7"/>
    <p:sldLayoutId id="2147484340" r:id="rId8"/>
    <p:sldLayoutId id="2147484341" r:id="rId9"/>
    <p:sldLayoutId id="2147484342" r:id="rId10"/>
    <p:sldLayoutId id="214748434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437501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B5C3-9041-8341-434C-5E6DCC638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5" y="926772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/>
              <a:t>PERSONAL FINANCE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5A29D-5988-98E9-56F5-337BA2D538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“Managing Your Money Wisely”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A hand holding a pen over a graph&#10;&#10;AI-generated content may be incorrect.">
            <a:extLst>
              <a:ext uri="{FF2B5EF4-FFF2-40B4-BE49-F238E27FC236}">
                <a16:creationId xmlns:a16="http://schemas.microsoft.com/office/drawing/2014/main" id="{19BF90C8-BE52-36DF-95A5-BCD6E13D6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55562" y="3085766"/>
            <a:ext cx="6564670" cy="32962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A84E85-8557-3939-951B-CD10BC6B41E7}"/>
              </a:ext>
            </a:extLst>
          </p:cNvPr>
          <p:cNvSpPr txBox="1"/>
          <p:nvPr/>
        </p:nvSpPr>
        <p:spPr>
          <a:xfrm>
            <a:off x="9075174" y="4744472"/>
            <a:ext cx="24995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Preeti,  Jashandeep Kaur,  Anchal Kumari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BCA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25BCA10050, 10034, 10059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D356E1-4818-3EB0-DDE8-BA972E5D8AA1}"/>
              </a:ext>
            </a:extLst>
          </p:cNvPr>
          <p:cNvSpPr txBox="1"/>
          <p:nvPr/>
        </p:nvSpPr>
        <p:spPr>
          <a:xfrm>
            <a:off x="7601420" y="4453728"/>
            <a:ext cx="1696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Presented By:</a:t>
            </a:r>
          </a:p>
        </p:txBody>
      </p:sp>
    </p:spTree>
    <p:extLst>
      <p:ext uri="{BB962C8B-B14F-4D97-AF65-F5344CB8AC3E}">
        <p14:creationId xmlns:p14="http://schemas.microsoft.com/office/powerpoint/2010/main" val="3220649607"/>
      </p:ext>
    </p:extLst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72E66-0705-3839-A39F-52FA76083E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49" cy="1475013"/>
          </a:xfrm>
        </p:spPr>
        <p:txBody>
          <a:bodyPr/>
          <a:lstStyle/>
          <a:p>
            <a:r>
              <a:rPr lang="en-US" b="1" dirty="0"/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B93A9B-AB3F-CC31-98B9-8C4A7397B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1" y="2200284"/>
            <a:ext cx="10993546" cy="590321"/>
          </a:xfrm>
        </p:spPr>
        <p:txBody>
          <a:bodyPr/>
          <a:lstStyle/>
          <a:p>
            <a:r>
              <a:rPr lang="en-US" dirty="0"/>
              <a:t>Personal finance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4493E5-5BF5-314D-AD49-45DA9F125FC2}"/>
              </a:ext>
            </a:extLst>
          </p:cNvPr>
          <p:cNvSpPr txBox="1"/>
          <p:nvPr/>
        </p:nvSpPr>
        <p:spPr>
          <a:xfrm>
            <a:off x="1150376" y="3772235"/>
            <a:ext cx="95176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Personal Finance Management means effectively managing income, expenses, savings, and investments.</a:t>
            </a:r>
            <a:br>
              <a:rPr lang="en-US" sz="2400" dirty="0">
                <a:solidFill>
                  <a:schemeClr val="bg2"/>
                </a:solidFill>
              </a:rPr>
            </a:br>
            <a:r>
              <a:rPr lang="en-US" sz="2400" dirty="0">
                <a:solidFill>
                  <a:schemeClr val="bg2"/>
                </a:solidFill>
              </a:rPr>
              <a:t>It helps individuals achieve financial stability, prepare for emergencies, and reach long-term goals.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8848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B2A22-5640-6B1B-6CE7-7FD22B5E5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99201"/>
            <a:ext cx="11029616" cy="1013800"/>
          </a:xfrm>
        </p:spPr>
        <p:txBody>
          <a:bodyPr>
            <a:noAutofit/>
          </a:bodyPr>
          <a:lstStyle/>
          <a:p>
            <a:r>
              <a:rPr lang="en-US" sz="3600" b="1" dirty="0"/>
              <a:t> Key Components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A1F3-5CE3-0C51-52E6-2E0BEC326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Main Elements:</a:t>
            </a:r>
            <a:endParaRPr lang="en-US" dirty="0"/>
          </a:p>
          <a:p>
            <a:pPr lvl="0"/>
            <a:r>
              <a:rPr lang="en-US" b="1" dirty="0"/>
              <a:t>Income Management</a:t>
            </a:r>
            <a:r>
              <a:rPr lang="en-US" dirty="0"/>
              <a:t> – Understanding how much you earn.</a:t>
            </a:r>
          </a:p>
          <a:p>
            <a:pPr lvl="0"/>
            <a:r>
              <a:rPr lang="en-US" b="1" dirty="0"/>
              <a:t>Budgeting</a:t>
            </a:r>
            <a:r>
              <a:rPr lang="en-US" dirty="0"/>
              <a:t> – Planning how to spend your money.</a:t>
            </a:r>
          </a:p>
          <a:p>
            <a:pPr lvl="0"/>
            <a:r>
              <a:rPr lang="en-US" b="1" dirty="0"/>
              <a:t>Saving</a:t>
            </a:r>
            <a:r>
              <a:rPr lang="en-US" dirty="0"/>
              <a:t> – Setting aside money for future use.</a:t>
            </a:r>
          </a:p>
          <a:p>
            <a:pPr lvl="0"/>
            <a:r>
              <a:rPr lang="en-US" b="1" dirty="0"/>
              <a:t>Investing</a:t>
            </a:r>
            <a:r>
              <a:rPr lang="en-US" dirty="0"/>
              <a:t> – Growing your wealth through assets.</a:t>
            </a:r>
          </a:p>
          <a:p>
            <a:pPr lvl="0"/>
            <a:r>
              <a:rPr lang="en-US" b="1" dirty="0"/>
              <a:t>Insurance</a:t>
            </a:r>
            <a:r>
              <a:rPr lang="en-US" dirty="0"/>
              <a:t> – Protecting yourself from risk.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87726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2A4EA-4561-19FC-E6E5-49155117C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92301"/>
            <a:ext cx="11029616" cy="1013800"/>
          </a:xfrm>
        </p:spPr>
        <p:txBody>
          <a:bodyPr>
            <a:normAutofit/>
          </a:bodyPr>
          <a:lstStyle/>
          <a:p>
            <a:r>
              <a:rPr lang="en-US" sz="3600" dirty="0"/>
              <a:t>Guidelines on Budgeting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F6BDD-F3C7-D0BD-FEB3-253BB2AC4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Track all sources of income and expenses.</a:t>
            </a:r>
          </a:p>
          <a:p>
            <a:pPr lvl="0"/>
            <a:r>
              <a:rPr lang="en-US" dirty="0"/>
              <a:t>Prioritize essential needs (rent, food, bills).</a:t>
            </a:r>
          </a:p>
          <a:p>
            <a:pPr lvl="0"/>
            <a:r>
              <a:rPr lang="en-US" dirty="0"/>
              <a:t>Set realistic spending limits.</a:t>
            </a:r>
          </a:p>
          <a:p>
            <a:pPr lvl="0"/>
            <a:r>
              <a:rPr lang="en-US" dirty="0"/>
              <a:t>Use the 50/30/20 rule:</a:t>
            </a:r>
          </a:p>
          <a:p>
            <a:pPr lvl="1"/>
            <a:r>
              <a:rPr lang="en-US" dirty="0"/>
              <a:t>50% Needs</a:t>
            </a:r>
          </a:p>
          <a:p>
            <a:pPr lvl="1"/>
            <a:r>
              <a:rPr lang="en-US" dirty="0"/>
              <a:t>30% Wants</a:t>
            </a:r>
          </a:p>
          <a:p>
            <a:pPr lvl="1"/>
            <a:r>
              <a:rPr lang="en-US" dirty="0"/>
              <a:t>20% Savings &amp; Debt Repayment</a:t>
            </a:r>
          </a:p>
          <a:p>
            <a:r>
              <a:rPr lang="en-US" dirty="0"/>
              <a:t>Review your budget monthly and adjust if needed</a:t>
            </a:r>
          </a:p>
        </p:txBody>
      </p:sp>
    </p:spTree>
    <p:extLst>
      <p:ext uri="{BB962C8B-B14F-4D97-AF65-F5344CB8AC3E}">
        <p14:creationId xmlns:p14="http://schemas.microsoft.com/office/powerpoint/2010/main" val="364780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C6913-AE81-585E-2514-447F3CE8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61173"/>
          </a:xfrm>
        </p:spPr>
        <p:txBody>
          <a:bodyPr/>
          <a:lstStyle/>
          <a:p>
            <a:r>
              <a:rPr lang="en-US" sz="3600" dirty="0"/>
              <a:t>Guidelines</a:t>
            </a:r>
            <a:r>
              <a:rPr lang="en-US" dirty="0"/>
              <a:t> </a:t>
            </a:r>
            <a:r>
              <a:rPr lang="en-US" sz="3600" dirty="0"/>
              <a:t>on Saving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D76EC-70F5-7073-1D15-EACC650A5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Save at least 20% of your monthly income.</a:t>
            </a:r>
          </a:p>
          <a:p>
            <a:pPr lvl="0"/>
            <a:r>
              <a:rPr lang="en-US" dirty="0"/>
              <a:t>Automate transfers to your savings account.</a:t>
            </a:r>
          </a:p>
          <a:p>
            <a:pPr lvl="0"/>
            <a:r>
              <a:rPr lang="en-US" dirty="0"/>
              <a:t>Build an emergency fund (3–6 months of expenses).</a:t>
            </a:r>
          </a:p>
          <a:p>
            <a:pPr lvl="0"/>
            <a:r>
              <a:rPr lang="en-US" dirty="0"/>
              <a:t>Avoid unnecessary loans or credit card debts.</a:t>
            </a:r>
          </a:p>
          <a:p>
            <a:pPr lvl="0"/>
            <a:r>
              <a:rPr lang="en-US" dirty="0"/>
              <a:t>Invest savings wisely in FD, SIPs, or mutual funds.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272727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A5FE4-0320-EEBF-A791-CBC6EC968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724" y="1215850"/>
            <a:ext cx="8690627" cy="1141848"/>
          </a:xfrm>
        </p:spPr>
        <p:txBody>
          <a:bodyPr>
            <a:noAutofit/>
          </a:bodyPr>
          <a:lstStyle/>
          <a:p>
            <a:r>
              <a:rPr lang="en-US" sz="3600" b="1" dirty="0"/>
              <a:t>Sample Excel Table: Monthly Expenses &amp; Savings Tracker</a:t>
            </a:r>
            <a:br>
              <a:rPr lang="en-US" sz="3600" b="1" dirty="0"/>
            </a:br>
            <a:endParaRPr lang="en-US" sz="36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5EAF546-D869-7AD5-BFC9-661FAE83B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5232086"/>
              </p:ext>
            </p:extLst>
          </p:nvPr>
        </p:nvGraphicFramePr>
        <p:xfrm>
          <a:off x="456224" y="2498245"/>
          <a:ext cx="3538632" cy="36576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4478">
                  <a:extLst>
                    <a:ext uri="{9D8B030D-6E8A-4147-A177-3AD203B41FA5}">
                      <a16:colId xmlns:a16="http://schemas.microsoft.com/office/drawing/2014/main" val="3671776273"/>
                    </a:ext>
                  </a:extLst>
                </a:gridCol>
                <a:gridCol w="874718">
                  <a:extLst>
                    <a:ext uri="{9D8B030D-6E8A-4147-A177-3AD203B41FA5}">
                      <a16:colId xmlns:a16="http://schemas.microsoft.com/office/drawing/2014/main" val="4107846082"/>
                    </a:ext>
                  </a:extLst>
                </a:gridCol>
                <a:gridCol w="807244">
                  <a:extLst>
                    <a:ext uri="{9D8B030D-6E8A-4147-A177-3AD203B41FA5}">
                      <a16:colId xmlns:a16="http://schemas.microsoft.com/office/drawing/2014/main" val="3146841426"/>
                    </a:ext>
                  </a:extLst>
                </a:gridCol>
                <a:gridCol w="942192">
                  <a:extLst>
                    <a:ext uri="{9D8B030D-6E8A-4147-A177-3AD203B41FA5}">
                      <a16:colId xmlns:a16="http://schemas.microsoft.com/office/drawing/2014/main" val="4277462061"/>
                    </a:ext>
                  </a:extLst>
                </a:gridCol>
              </a:tblGrid>
              <a:tr h="7280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Category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Planned (₹)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Actual (₹)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Difference (₹)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8164129"/>
                  </a:ext>
                </a:extLst>
              </a:tr>
              <a:tr h="4401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Income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20,000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20,000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1231091"/>
                  </a:ext>
                </a:extLst>
              </a:tr>
              <a:tr h="4401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Rent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5,000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5,000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978198"/>
                  </a:ext>
                </a:extLst>
              </a:tr>
              <a:tr h="4401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Food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4,000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4,200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-200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9564374"/>
                  </a:ext>
                </a:extLst>
              </a:tr>
              <a:tr h="4401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Transport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1,500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1,200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300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4251202"/>
                  </a:ext>
                </a:extLst>
              </a:tr>
              <a:tr h="7286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Entertainment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1,000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1,500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-500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9399039"/>
                  </a:ext>
                </a:extLst>
              </a:tr>
              <a:tr h="4401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Savings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8,500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8,100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-400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8061061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EA908783-C323-AC0F-9838-F3F42F6CE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398" y="2731929"/>
            <a:ext cx="23318559" cy="564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28528" rIns="0" bIns="5078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D91D219-C8A5-E877-9C6E-9AAD95C743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1157912"/>
              </p:ext>
            </p:extLst>
          </p:nvPr>
        </p:nvGraphicFramePr>
        <p:xfrm>
          <a:off x="4742822" y="2498245"/>
          <a:ext cx="6992954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BB9978E8-2633-B97D-2D7E-1CEBABE5219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531398" y="6162695"/>
            <a:ext cx="23318559" cy="866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28528" rIns="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679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A9E5B-97CE-DD98-9239-98986DE4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16788"/>
            <a:ext cx="11029616" cy="1013800"/>
          </a:xfrm>
        </p:spPr>
        <p:txBody>
          <a:bodyPr>
            <a:noAutofit/>
          </a:bodyPr>
          <a:lstStyle/>
          <a:p>
            <a:r>
              <a:rPr lang="en-US" sz="3600" dirty="0"/>
              <a:t>Conclusion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A0F2C-0B7B-094A-80CE-C0BCE8252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4" y="2180496"/>
            <a:ext cx="11207684" cy="2352175"/>
          </a:xfrm>
        </p:spPr>
        <p:txBody>
          <a:bodyPr/>
          <a:lstStyle/>
          <a:p>
            <a:r>
              <a:rPr lang="en-US" b="1" dirty="0"/>
              <a:t>Effective personal finance management helps you live stress-free and financially secure.</a:t>
            </a:r>
            <a:br>
              <a:rPr lang="en-US" b="1" dirty="0"/>
            </a:br>
            <a:r>
              <a:rPr lang="en-US" b="1" dirty="0"/>
              <a:t>Budgeting and saving are the foundations of wealth creation.</a:t>
            </a:r>
            <a:br>
              <a:rPr lang="en-US" b="1" dirty="0"/>
            </a:br>
            <a:endParaRPr lang="en-US" b="1" dirty="0"/>
          </a:p>
          <a:p>
            <a:r>
              <a:rPr lang="en-US" b="1" dirty="0"/>
              <a:t>💬 “Don’t save what is left after spending; spend what is left after saving.”</a:t>
            </a:r>
          </a:p>
          <a:p>
            <a:pPr marL="0" indent="0">
              <a:buNone/>
            </a:pPr>
            <a:r>
              <a:rPr lang="en-US" b="1" dirty="0"/>
              <a:t>                                                                                                                                — Warren Buffett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09522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58</TotalTime>
  <Words>316</Words>
  <Application>Microsoft Office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Gill Sans MT</vt:lpstr>
      <vt:lpstr>Wingdings 2</vt:lpstr>
      <vt:lpstr>Dividend</vt:lpstr>
      <vt:lpstr>PERSONAL FINANCE MANAGEMENT</vt:lpstr>
      <vt:lpstr>Introduction </vt:lpstr>
      <vt:lpstr> Key Components </vt:lpstr>
      <vt:lpstr>Guidelines on Budgeting</vt:lpstr>
      <vt:lpstr>Guidelines on Saving</vt:lpstr>
      <vt:lpstr>Sample Excel Table: Monthly Expenses &amp; Savings Tracker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Preeti Preeti</dc:creator>
  <cp:lastModifiedBy>Preeti Preeti</cp:lastModifiedBy>
  <cp:revision>1</cp:revision>
  <dcterms:created xsi:type="dcterms:W3CDTF">2025-11-02T15:41:11Z</dcterms:created>
  <dcterms:modified xsi:type="dcterms:W3CDTF">2025-11-02T16:39:51Z</dcterms:modified>
</cp:coreProperties>
</file>